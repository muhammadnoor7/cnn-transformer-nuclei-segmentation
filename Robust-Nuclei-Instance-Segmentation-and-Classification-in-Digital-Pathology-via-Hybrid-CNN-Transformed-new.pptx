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5ADA5-AC50-4CBF-B507-713D1F195173}">
  <a:tblStyle styleId="{C6F5ADA5-AC50-4CBF-B507-713D1F1951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82880" y="274320"/>
            <a:ext cx="164592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2156"/>
            </a:srgbClr>
          </a:solidFill>
          <a:ln cap="flat" cmpd="sng" w="9525">
            <a:solidFill>
              <a:srgbClr val="9090D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0" y="91440"/>
            <a:ext cx="2011680" cy="20116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046720" y="3200400"/>
            <a:ext cx="13716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657600"/>
            <a:ext cx="109728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0" y="2286000"/>
            <a:ext cx="27432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5882"/>
            </a:srgbClr>
          </a:solidFill>
          <a:ln cap="flat" cmpd="sng" w="9525">
            <a:solidFill>
              <a:srgbClr val="9090D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828800" y="13716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0" y="384048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9019"/>
            </a:srgbClr>
          </a:solidFill>
          <a:ln cap="flat" cmpd="sng" w="9525">
            <a:solidFill>
              <a:srgbClr val="9090D0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4360" y="822960"/>
            <a:ext cx="6858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Nuclei Segmentation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Reimagined.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94360" y="327355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8D0"/>
              </a:buClr>
              <a:buSzPts val="1600"/>
              <a:buFont typeface="Trebuchet MS"/>
              <a:buNone/>
            </a:pPr>
            <a:r>
              <a:rPr b="0" i="1" lang="en-US" sz="1600" u="none" cap="none" strike="noStrike">
                <a:solidFill>
                  <a:srgbClr val="A0A8D0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CNN-Transformer Architectures for Digital Pathology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94360" y="385876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Shahoud Shahid · Muhammad Noor · Saif Shahzad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94360" y="416966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80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606080"/>
                </a:solidFill>
                <a:latin typeface="Trebuchet MS"/>
                <a:ea typeface="Trebuchet MS"/>
                <a:cs typeface="Trebuchet MS"/>
                <a:sym typeface="Trebuchet MS"/>
              </a:rPr>
              <a:t>FAST-NUCES, Islamabad, Pakistan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94360" y="4736592"/>
            <a:ext cx="1554480" cy="256032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ONFERENCE PAPER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Why is this hard?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987552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Nuclei segmentation in histopathology faces four compounding challenges.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1389888"/>
            <a:ext cx="1901952" cy="329184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1399032"/>
            <a:ext cx="64008" cy="3273552"/>
          </a:xfrm>
          <a:prstGeom prst="rect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EAE8F8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31520" y="2057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Dense Overlap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31520" y="25603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Closely packed leukaemia cells defeat classical watershed algorithms.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578608" y="1389888"/>
            <a:ext cx="1901952" cy="329184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78608" y="1399032"/>
            <a:ext cx="64008" cy="3273552"/>
          </a:xfrm>
          <a:prstGeom prst="rect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43200" y="1481328"/>
            <a:ext cx="384048" cy="384048"/>
          </a:xfrm>
          <a:prstGeom prst="ellipse">
            <a:avLst/>
          </a:prstGeom>
          <a:solidFill>
            <a:srgbClr val="EAE8F8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743200" y="1481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61488" y="2057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Morphological Diversity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761488" y="25603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Size, shape, chromatin texture vary dramatically across cell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608576" y="1389888"/>
            <a:ext cx="1901952" cy="329184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608576" y="1399032"/>
            <a:ext cx="64008" cy="3273552"/>
          </a:xfrm>
          <a:prstGeom prst="rect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73168" y="1481328"/>
            <a:ext cx="384048" cy="384048"/>
          </a:xfrm>
          <a:prstGeom prst="ellipse">
            <a:avLst/>
          </a:prstGeom>
          <a:solidFill>
            <a:srgbClr val="EAE8F8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73168" y="1481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91456" y="2057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Staining Variability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91456" y="25603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H&amp;E protocols differ lab-to-lab, causing domain shift.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638544" y="1389888"/>
            <a:ext cx="1901952" cy="3291840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638544" y="1399032"/>
            <a:ext cx="64008" cy="3273552"/>
          </a:xfrm>
          <a:prstGeom prst="rect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803136" y="1481328"/>
            <a:ext cx="384048" cy="384048"/>
          </a:xfrm>
          <a:prstGeom prst="ellipse">
            <a:avLst/>
          </a:prstGeom>
          <a:solidFill>
            <a:srgbClr val="EAE8F8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803136" y="1481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21424" y="2057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Tissue Heterogeneity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821424" y="25603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Breast tissue models fail on lung or colon — no free generalization.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48640" y="82296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Cancer grading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depends 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every cell.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120640" y="749808"/>
            <a:ext cx="192024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120640" y="80467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190K+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120640" y="1408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labeled nuclei · PanNuke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120640" y="1874520"/>
            <a:ext cx="192024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120640" y="192938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4A5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3D34A5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120640" y="253288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tissue types covered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120640" y="2999232"/>
            <a:ext cx="192024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120640" y="3054096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22A86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120640" y="3657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nucleus classes segmented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48640" y="4315968"/>
            <a:ext cx="8046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150"/>
              <a:buFont typeface="Trebuchet MS"/>
              <a:buNone/>
            </a:pPr>
            <a:r>
              <a:rPr b="0" i="1" lang="en-US" sz="115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Accurate nuclei maps unlock tumor microenvironment analysis, prognosis modeling, and precision oncology.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274320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The field needed a bridge.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731520" y="2304288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548640" y="2487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2015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27889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U-Net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3218688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Great spatial detail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Over-segments 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468880" y="2487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2019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468880" y="27889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HoverNet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468880" y="3218688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Instance separation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Limited global context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389120" y="2487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2021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389120" y="27889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ViT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389120" y="3218688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Long-range attention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Expensive on small patches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309360" y="2487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309360" y="27889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CellViT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+ CART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309360" y="3218688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Local + global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Efficient inference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583680" y="17373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53475" y="2223200"/>
            <a:ext cx="272100" cy="25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064350" y="2223200"/>
            <a:ext cx="272100" cy="25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984588" y="2223200"/>
            <a:ext cx="272100" cy="25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904850" y="2185250"/>
            <a:ext cx="272100" cy="2562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548640" y="292608"/>
            <a:ext cx="384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One encoder.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Three outputs.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828800"/>
            <a:ext cx="3200400" cy="1188720"/>
          </a:xfrm>
          <a:prstGeom prst="roundRect">
            <a:avLst>
              <a:gd fmla="val 7692" name="adj"/>
            </a:avLst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18288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ViT-Small Encoder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48640" y="233172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CFF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D0CCFF"/>
                </a:solidFill>
                <a:latin typeface="Trebuchet MS"/>
                <a:ea typeface="Trebuchet MS"/>
                <a:cs typeface="Trebuchet MS"/>
                <a:sym typeface="Trebuchet MS"/>
              </a:rPr>
              <a:t>ImageNet pre-trained · Patch embeddings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CCFF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D0CC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Transformer blocks → feature maps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48640" y="3730752"/>
            <a:ext cx="1024128" cy="1005840"/>
          </a:xfrm>
          <a:prstGeom prst="roundRect">
            <a:avLst>
              <a:gd fmla="val 7273" name="adj"/>
            </a:avLst>
          </a:prstGeom>
          <a:solidFill>
            <a:srgbClr val="EAE8F8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94360" y="376732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94360" y="4133088"/>
            <a:ext cx="9326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5 nucleus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664208" y="3730752"/>
            <a:ext cx="1024128" cy="1005840"/>
          </a:xfrm>
          <a:prstGeom prst="roundRect">
            <a:avLst>
              <a:gd fmla="val 7273" name="adj"/>
            </a:avLst>
          </a:prstGeom>
          <a:solidFill>
            <a:srgbClr val="EAE8F8"/>
          </a:solidFill>
          <a:ln cap="flat" cmpd="sng" w="12700">
            <a:solidFill>
              <a:srgbClr val="7B6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709928" y="376732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6FD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7B6FDF"/>
                </a:solidFill>
                <a:latin typeface="Arial Black"/>
                <a:ea typeface="Arial Black"/>
                <a:cs typeface="Arial Black"/>
                <a:sym typeface="Arial Black"/>
              </a:rPr>
              <a:t>HV Maps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709928" y="4133088"/>
            <a:ext cx="9326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Instance separation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779776" y="3730752"/>
            <a:ext cx="1024128" cy="1005840"/>
          </a:xfrm>
          <a:prstGeom prst="roundRect">
            <a:avLst>
              <a:gd fmla="val 7273" name="adj"/>
            </a:avLst>
          </a:prstGeom>
          <a:solidFill>
            <a:srgbClr val="EAE8F8"/>
          </a:solidFill>
          <a:ln cap="flat" cmpd="sng" w="12700">
            <a:solidFill>
              <a:srgbClr val="3D3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825496" y="376732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4A5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3D34A5"/>
                </a:solidFill>
                <a:latin typeface="Arial Black"/>
                <a:ea typeface="Arial Black"/>
                <a:cs typeface="Arial Black"/>
                <a:sym typeface="Arial Black"/>
              </a:rPr>
              <a:t>Binary Mask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2825496" y="4133088"/>
            <a:ext cx="9326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Nucleus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480560" y="1783080"/>
            <a:ext cx="4251960" cy="3108960"/>
          </a:xfrm>
          <a:prstGeom prst="roundRect">
            <a:avLst>
              <a:gd fmla="val 3529" name="adj"/>
            </a:avLst>
          </a:prstGeom>
          <a:solidFill>
            <a:srgbClr val="F7F8FA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663440" y="190195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Multi-task 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663440" y="23042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L_total = λ₁·L</a:t>
            </a:r>
            <a:r>
              <a:rPr b="1" baseline="-25000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cls</a:t>
            </a:r>
            <a:r>
              <a:rPr b="1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 + λ₂·L</a:t>
            </a:r>
            <a:r>
              <a:rPr b="1" baseline="-25000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bin</a:t>
            </a:r>
            <a:r>
              <a:rPr b="1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 + λ₃·L</a:t>
            </a:r>
            <a:r>
              <a:rPr b="1" baseline="-25000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hv</a:t>
            </a:r>
            <a:endParaRPr b="0" baseline="-2500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2816352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b="1" baseline="-25000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cls</a:t>
            </a:r>
            <a:endParaRPr b="0" baseline="-2500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504688" y="2816352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Class-weighted cross-entropy · penalizes minority classes harder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663440" y="3474720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b="1" baseline="-25000" i="0" lang="en-US" sz="13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bin</a:t>
            </a:r>
            <a:endParaRPr b="0" baseline="-2500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504688" y="347472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Binary segmentation · nucleus vs. background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63440" y="4133088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b="1" baseline="-25000" i="0" lang="en-US" u="none" cap="none" strike="noStrike">
                <a:solidFill>
                  <a:srgbClr val="5B4FCF"/>
                </a:solidFill>
                <a:latin typeface="Trebuchet MS"/>
                <a:ea typeface="Trebuchet MS"/>
                <a:cs typeface="Trebuchet MS"/>
                <a:sym typeface="Trebuchet MS"/>
              </a:rPr>
              <a:t>hv</a:t>
            </a:r>
            <a:endParaRPr b="0" baseline="-2500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04688" y="4133088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Horizontal + vertical distance regression · enables instance splits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6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48850" y="3166863"/>
            <a:ext cx="3000000" cy="3231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CART </a:t>
            </a:r>
            <a:r>
              <a:rPr b="1" lang="en-US"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replaces last-half MHSA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548640" y="256032"/>
            <a:ext cx="8046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CART: Transformers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that think like CNNs.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Trebuchet MS"/>
              <a:buNone/>
            </a:pPr>
            <a:r>
              <a:rPr b="0" i="1" lang="en-US" sz="13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Context-Aware Re-Parameterizable Transformer — our novel contribution.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1874520"/>
            <a:ext cx="2606040" cy="2944368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13232" y="193852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13232" y="26334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Training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13232" y="3017520"/>
            <a:ext cx="22860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Two branches run in parallel: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3×3 kernels (local texture)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1×1 kernels (channel mixing).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Learns multi-scale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182112" y="2999232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83280" y="1874520"/>
            <a:ext cx="2606040" cy="2944368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547872" y="193852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D97706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547872" y="26334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Re-param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547872" y="3017520"/>
            <a:ext cx="22860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At convergence, 1×1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are zero-padded to 3×3 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added to the 3×3 branch.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y = (W₃ₓ₃ + Pad(W₁ₓ₁)) ∗ 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016752" y="2999232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217920" y="1874520"/>
            <a:ext cx="2606040" cy="2944368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382512" y="193852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22A86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382512" y="26334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Inference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382512" y="3017520"/>
            <a:ext cx="22860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Single 3×3 convolution.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Zero overhead vs standard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CNN — deployment-ready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Trebuchet MS"/>
                <a:ea typeface="Trebuchet MS"/>
                <a:cs typeface="Trebuchet MS"/>
                <a:sym typeface="Trebuchet MS"/>
              </a:rPr>
              <a:t>for clinical edge devices.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7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548640" y="256032"/>
            <a:ext cx="80467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What changes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when we unfreeze?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1572768"/>
            <a:ext cx="3611880" cy="3310128"/>
          </a:xfrm>
          <a:prstGeom prst="roundRect">
            <a:avLst>
              <a:gd fmla="val 3315" name="adj"/>
            </a:avLst>
          </a:prstGeom>
          <a:solidFill>
            <a:srgbClr val="FFFFFF"/>
          </a:solidFill>
          <a:ln cap="flat" cmpd="sng" w="9525">
            <a:solidFill>
              <a:srgbClr val="E2E5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31520" y="1700784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9BA3AF"/>
                </a:solidFill>
                <a:latin typeface="Arial Black"/>
                <a:ea typeface="Arial Black"/>
                <a:cs typeface="Arial Black"/>
                <a:sym typeface="Arial Black"/>
              </a:rPr>
              <a:t>Constrained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31520" y="21945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✗  Frozen ViT backbone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31520" y="267004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✗  Decoder branches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31520" y="3145536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✗  10 epochs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31520" y="3621024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✗  Standard cross-entropy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31520" y="409651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C0392B"/>
                </a:solidFill>
                <a:latin typeface="Trebuchet MS"/>
                <a:ea typeface="Trebuchet MS"/>
                <a:cs typeface="Trebuchet MS"/>
                <a:sym typeface="Trebuchet MS"/>
              </a:rPr>
              <a:t>✗  ImageNet features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187952" y="2907792"/>
            <a:ext cx="777240" cy="77724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983480" y="1572768"/>
            <a:ext cx="3657600" cy="3310128"/>
          </a:xfrm>
          <a:prstGeom prst="roundRect">
            <a:avLst>
              <a:gd fmla="val 3315" name="adj"/>
            </a:avLst>
          </a:prstGeom>
          <a:solidFill>
            <a:srgbClr val="EAE8F8"/>
          </a:solidFill>
          <a:ln cap="flat" cmpd="sng" w="1905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166360" y="170078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Improved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166360" y="2194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22A861"/>
                </a:solidFill>
                <a:latin typeface="Trebuchet MS"/>
                <a:ea typeface="Trebuchet MS"/>
                <a:cs typeface="Trebuchet MS"/>
                <a:sym typeface="Trebuchet MS"/>
              </a:rPr>
              <a:t>✓  Unfrozen ViT backbone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166360" y="26700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22A861"/>
                </a:solidFill>
                <a:latin typeface="Trebuchet MS"/>
                <a:ea typeface="Trebuchet MS"/>
                <a:cs typeface="Trebuchet MS"/>
                <a:sym typeface="Trebuchet MS"/>
              </a:rPr>
              <a:t>✓  Full end-to-end 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166360" y="3145536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22A861"/>
                </a:solidFill>
                <a:latin typeface="Trebuchet MS"/>
                <a:ea typeface="Trebuchet MS"/>
                <a:cs typeface="Trebuchet MS"/>
                <a:sym typeface="Trebuchet MS"/>
              </a:rPr>
              <a:t>✓  30 epochs + early stopping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166360" y="362102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22A861"/>
                </a:solidFill>
                <a:latin typeface="Trebuchet MS"/>
                <a:ea typeface="Trebuchet MS"/>
                <a:cs typeface="Trebuchet MS"/>
                <a:sym typeface="Trebuchet MS"/>
              </a:rPr>
              <a:t>✓  Class-weighted 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166360" y="409651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A861"/>
              </a:buClr>
              <a:buSzPts val="1250"/>
              <a:buFont typeface="Trebuchet MS"/>
              <a:buNone/>
            </a:pPr>
            <a:r>
              <a:rPr b="0" i="0" lang="en-US" sz="1250" u="none" cap="none" strike="noStrike">
                <a:solidFill>
                  <a:srgbClr val="22A861"/>
                </a:solidFill>
                <a:latin typeface="Trebuchet MS"/>
                <a:ea typeface="Trebuchet MS"/>
                <a:cs typeface="Trebuchet MS"/>
                <a:sym typeface="Trebuchet MS"/>
              </a:rPr>
              <a:t>✓  AMP for training stability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8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Training Curves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CellViT on PanNuke  ·  3-Fold Cross-Validation  ·  10 Epochs 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85953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457200" y="48002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Loss converges consistently across all 3 folds — validation tracks training closely, no 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8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182880" y="274320"/>
            <a:ext cx="164592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2156"/>
            </a:srgbClr>
          </a:solidFill>
          <a:ln cap="flat" cmpd="sng" w="9525">
            <a:solidFill>
              <a:srgbClr val="9090D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858000" y="91440"/>
            <a:ext cx="2011680" cy="20116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8046720" y="3200400"/>
            <a:ext cx="13716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3657600"/>
            <a:ext cx="109728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114800" y="2286000"/>
            <a:ext cx="27432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5882"/>
            </a:srgbClr>
          </a:solidFill>
          <a:ln cap="flat" cmpd="sng" w="9525">
            <a:solidFill>
              <a:srgbClr val="9090D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828800" y="13716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400800" y="384048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9019"/>
            </a:srgbClr>
          </a:solidFill>
          <a:ln cap="flat" cmpd="sng" w="9525">
            <a:solidFill>
              <a:srgbClr val="9090D0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640080"/>
            <a:ext cx="8229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3000"/>
              <a:buFont typeface="Arial Black"/>
              <a:buNone/>
            </a:pPr>
            <a:r>
              <a:rPr b="1" i="0" lang="en-US" sz="130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+94%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improvement in Mean Panoptic Quality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48640" y="404164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Frozen baseline: 7.32%     →     Improved pipeline: 14.22%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Fold-by-Fold Performance Gains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 (frozen ViT) vs Improved (unfrozen + class-weighted loss)  ·  mPQ and F1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85953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/>
          <p:nvPr/>
        </p:nvSpPr>
        <p:spPr>
          <a:xfrm>
            <a:off x="457200" y="48002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Improved model doubles mPQ (0.073→0.14+) and boosts F1 detection (0.23→0.32+) across all folds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10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548640" y="256032"/>
            <a:ext cx="80467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Consistent gains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Arial Black"/>
                <a:ea typeface="Arial Black"/>
                <a:cs typeface="Arial Black"/>
                <a:sym typeface="Arial Black"/>
              </a:rPr>
              <a:t>across all three folds.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13"/>
          <p:cNvGraphicFramePr/>
          <p:nvPr/>
        </p:nvGraphicFramePr>
        <p:xfrm>
          <a:off x="548640" y="1572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{C6F5ADA5-AC50-4CBF-B507-713D1F195173}</a:tableStyleId>
              </a:tblPr>
              <a:tblGrid>
                <a:gridCol w="1097275"/>
                <a:gridCol w="2011675"/>
                <a:gridCol w="2011675"/>
                <a:gridCol w="1371600"/>
                <a:gridCol w="155447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 Black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Fold</a:t>
                      </a:r>
                      <a:endParaRPr sz="12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 Black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Constrained mPQ</a:t>
                      </a:r>
                      <a:endParaRPr sz="12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 Black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Improved mPQ</a:t>
                      </a:r>
                      <a:endParaRPr sz="12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 Black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Gain</a:t>
                      </a:r>
                      <a:endParaRPr sz="12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 Black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Paper Target</a:t>
                      </a:r>
                      <a:endParaRPr sz="12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4FC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Fold 1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7.30%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4FC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B4FC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14.67%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A861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A86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+101%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3AF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9BA3A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47.88%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Fold 2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7.28%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4FC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B4FC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12.20%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A861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A86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+68%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3AF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9BA3A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47.76%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8F8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Fold 3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7.38%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4FC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B4FC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15.79%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A861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2A86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+114%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3AF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9BA3A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49.15%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4A5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D34A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Mean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4A5568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7.32%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4FC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B4FC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14.22%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97706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+94%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3AF"/>
                        </a:buClr>
                        <a:buSzPts val="1200"/>
                        <a:buFont typeface="Trebuchet MS"/>
                        <a:buNone/>
                      </a:pPr>
                      <a:r>
                        <a:rPr lang="en-US" sz="1200" u="none" cap="none" strike="noStrike">
                          <a:solidFill>
                            <a:srgbClr val="9BA3A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48.27%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5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3"/>
          <p:cNvSpPr/>
          <p:nvPr/>
        </p:nvSpPr>
        <p:spPr>
          <a:xfrm>
            <a:off x="548640" y="4809744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50"/>
              <a:buFont typeface="Trebuchet MS"/>
              <a:buNone/>
            </a:pPr>
            <a:r>
              <a:rPr b="0" i="1" lang="en-US" sz="85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Paper target = original CellViT paper at full compute. Gap reflects our resource-constrained setting.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10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Sample Predictions: Baseline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Frozen ViT backbone  ·  Standard cross-entropy loss  ·  Original | Ground Truth | Prediction | Instance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85953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457200" y="48002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 struggles with class boundaries and instance separation — epithelial and connective tissue often merged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11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457200" y="144101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Sample Predictions: Improved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Unfrozen ViT backbone  ·  Class-weighted loss  ·  Original | Ground Truth | Prediction | Instance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85953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/>
          <p:nvPr/>
        </p:nvSpPr>
        <p:spPr>
          <a:xfrm>
            <a:off x="457200" y="48002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Improved model captures finer boundaries, better nuclei class discrimination and cleaner instance separation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12 /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182880" y="274320"/>
            <a:ext cx="164592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2156"/>
            </a:srgbClr>
          </a:solidFill>
          <a:ln cap="flat" cmpd="sng" w="9525">
            <a:solidFill>
              <a:srgbClr val="9090D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858000" y="91440"/>
            <a:ext cx="2011680" cy="20116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8046720" y="3200400"/>
            <a:ext cx="13716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457200" y="3657600"/>
            <a:ext cx="109728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4114800" y="2286000"/>
            <a:ext cx="27432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5882"/>
            </a:srgbClr>
          </a:solidFill>
          <a:ln cap="flat" cmpd="sng" w="9525">
            <a:solidFill>
              <a:srgbClr val="9090D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1828800" y="13716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400800" y="384048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9019"/>
            </a:srgbClr>
          </a:solidFill>
          <a:ln cap="flat" cmpd="sng" w="9525">
            <a:solidFill>
              <a:srgbClr val="9090D0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Conclusions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457200" y="1005840"/>
            <a:ext cx="2578608" cy="1874520"/>
          </a:xfrm>
          <a:prstGeom prst="roundRect">
            <a:avLst>
              <a:gd fmla="val 5854" name="adj"/>
            </a:avLst>
          </a:prstGeom>
          <a:solidFill>
            <a:srgbClr val="252545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621792" y="1115568"/>
            <a:ext cx="384048" cy="384048"/>
          </a:xfrm>
          <a:prstGeom prst="ellipse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621792" y="1115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21792" y="1600200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architectures</a:t>
            </a:r>
            <a:r>
              <a:rPr b="0" i="0" lang="en-US" sz="1150" u="none" cap="none" strike="noStrike">
                <a:solidFill>
                  <a:srgbClr val="A0A8C8"/>
                </a:solidFill>
                <a:latin typeface="Trebuchet MS"/>
                <a:ea typeface="Trebuchet MS"/>
                <a:cs typeface="Trebuchet MS"/>
                <a:sym typeface="Trebuchet MS"/>
              </a:rPr>
              <a:t> are essential for scalable digital pathology.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3246120" y="1005840"/>
            <a:ext cx="2578608" cy="1874520"/>
          </a:xfrm>
          <a:prstGeom prst="roundRect">
            <a:avLst>
              <a:gd fmla="val 5854" name="adj"/>
            </a:avLst>
          </a:prstGeom>
          <a:solidFill>
            <a:srgbClr val="252545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3410712" y="1115568"/>
            <a:ext cx="384048" cy="384048"/>
          </a:xfrm>
          <a:prstGeom prst="ellipse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3410712" y="1115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3410712" y="1600200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Unfreeze the backbone</a:t>
            </a:r>
            <a:r>
              <a:rPr b="0" i="0" lang="en-US" sz="1150" u="none" cap="none" strike="noStrike">
                <a:solidFill>
                  <a:srgbClr val="A0A8C8"/>
                </a:solidFill>
                <a:latin typeface="Trebuchet MS"/>
                <a:ea typeface="Trebuchet MS"/>
                <a:cs typeface="Trebuchet MS"/>
                <a:sym typeface="Trebuchet MS"/>
              </a:rPr>
              <a:t> — ImageNet features alone can't capture chromatin.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6035040" y="1005840"/>
            <a:ext cx="2578608" cy="1874520"/>
          </a:xfrm>
          <a:prstGeom prst="roundRect">
            <a:avLst>
              <a:gd fmla="val 5854" name="adj"/>
            </a:avLst>
          </a:prstGeom>
          <a:solidFill>
            <a:srgbClr val="252545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6199632" y="1115568"/>
            <a:ext cx="384048" cy="384048"/>
          </a:xfrm>
          <a:prstGeom prst="ellipse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6199632" y="1115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6199632" y="1600200"/>
            <a:ext cx="22677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Class-weighted loss</a:t>
            </a:r>
            <a:r>
              <a:rPr b="0" i="0" lang="en-US" sz="1150" u="none" cap="none" strike="noStrike">
                <a:solidFill>
                  <a:srgbClr val="A0A8C8"/>
                </a:solidFill>
                <a:latin typeface="Trebuchet MS"/>
                <a:ea typeface="Trebuchet MS"/>
                <a:cs typeface="Trebuchet MS"/>
                <a:sym typeface="Trebuchet MS"/>
              </a:rPr>
              <a:t> rescues minority classes (Dead +2.5×).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57200" y="3035808"/>
            <a:ext cx="4041648" cy="1783080"/>
          </a:xfrm>
          <a:prstGeom prst="roundRect">
            <a:avLst>
              <a:gd fmla="val 6154" name="adj"/>
            </a:avLst>
          </a:prstGeom>
          <a:solidFill>
            <a:srgbClr val="252545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621792" y="3145536"/>
            <a:ext cx="384048" cy="384048"/>
          </a:xfrm>
          <a:prstGeom prst="ellipse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621792" y="31455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621792" y="3621024"/>
            <a:ext cx="373075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generalization</a:t>
            </a:r>
            <a:r>
              <a:rPr b="0" i="0" lang="en-US" sz="1150" u="none" cap="none" strike="noStrike">
                <a:solidFill>
                  <a:srgbClr val="A0A8C8"/>
                </a:solidFill>
                <a:latin typeface="Trebuchet MS"/>
                <a:ea typeface="Trebuchet MS"/>
                <a:cs typeface="Trebuchet MS"/>
                <a:sym typeface="Trebuchet MS"/>
              </a:rPr>
              <a:t> across unseen staining and tissue types.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4800600" y="3035808"/>
            <a:ext cx="4041648" cy="1783080"/>
          </a:xfrm>
          <a:prstGeom prst="roundRect">
            <a:avLst>
              <a:gd fmla="val 6154" name="adj"/>
            </a:avLst>
          </a:prstGeom>
          <a:solidFill>
            <a:srgbClr val="252545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4965192" y="3145536"/>
            <a:ext cx="384048" cy="384048"/>
          </a:xfrm>
          <a:prstGeom prst="ellipse">
            <a:avLst/>
          </a:prstGeom>
          <a:solidFill>
            <a:srgbClr val="5B4FCF"/>
          </a:solidFill>
          <a:ln cap="flat" cmpd="sng" w="12700">
            <a:solidFill>
              <a:srgbClr val="5B4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4965192" y="31455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4965192" y="3621024"/>
            <a:ext cx="373075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CART proves</a:t>
            </a:r>
            <a:r>
              <a:rPr b="0" i="0" lang="en-US" sz="1150" u="none" cap="none" strike="noStrike">
                <a:solidFill>
                  <a:srgbClr val="A0A8C8"/>
                </a:solidFill>
                <a:latin typeface="Trebuchet MS"/>
                <a:ea typeface="Trebuchet MS"/>
                <a:cs typeface="Trebuchet MS"/>
                <a:sym typeface="Trebuchet MS"/>
              </a:rPr>
              <a:t> Transformer quality at CNN inference cost.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/>
          <p:nvPr/>
        </p:nvSpPr>
        <p:spPr>
          <a:xfrm>
            <a:off x="182880" y="274320"/>
            <a:ext cx="164592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2156"/>
            </a:srgbClr>
          </a:solidFill>
          <a:ln cap="flat" cmpd="sng" w="9525">
            <a:solidFill>
              <a:srgbClr val="9090D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858000" y="91440"/>
            <a:ext cx="2011680" cy="20116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8046720" y="3200400"/>
            <a:ext cx="13716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457200" y="3657600"/>
            <a:ext cx="109728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10196"/>
            </a:srgbClr>
          </a:solidFill>
          <a:ln cap="flat" cmpd="sng" w="9525">
            <a:solidFill>
              <a:srgbClr val="9090D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4114800" y="2286000"/>
            <a:ext cx="2743200" cy="27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5882"/>
            </a:srgbClr>
          </a:solidFill>
          <a:ln cap="flat" cmpd="sng" w="9525">
            <a:solidFill>
              <a:srgbClr val="9090D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828800" y="13716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7843"/>
            </a:srgbClr>
          </a:solidFill>
          <a:ln cap="flat" cmpd="sng" w="9525">
            <a:solidFill>
              <a:srgbClr val="9090D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400800" y="384048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080C0">
              <a:alpha val="9019"/>
            </a:srgbClr>
          </a:solidFill>
          <a:ln cap="flat" cmpd="sng" w="9525">
            <a:solidFill>
              <a:srgbClr val="9090D0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548640" y="1005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You.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548640" y="2743200"/>
            <a:ext cx="3931920" cy="2029968"/>
          </a:xfrm>
          <a:prstGeom prst="roundRect">
            <a:avLst>
              <a:gd fmla="val 5405" name="adj"/>
            </a:avLst>
          </a:prstGeom>
          <a:solidFill>
            <a:srgbClr val="1E1E38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749808" y="28712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Authors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749808" y="320040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Shahoud Shahid  i232515@isb.nu.edu.pk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Muhammad Noor  i232520@isb.nu.edu.pk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Saif Shahzad  i232634@isb.nu.edu.pk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749808" y="40233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0" i="1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FAST-NUCES, Islamabad, Pakistan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663440" y="2743200"/>
            <a:ext cx="3931920" cy="2029968"/>
          </a:xfrm>
          <a:prstGeom prst="roundRect">
            <a:avLst>
              <a:gd fmla="val 5405" name="adj"/>
            </a:avLst>
          </a:prstGeom>
          <a:solidFill>
            <a:srgbClr val="1E1E38"/>
          </a:solidFill>
          <a:ln cap="flat" cmpd="sng" w="9525">
            <a:solidFill>
              <a:srgbClr val="40406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4864608" y="28712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4FC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5B4FCF"/>
                </a:solidFill>
                <a:latin typeface="Arial Black"/>
                <a:ea typeface="Arial Black"/>
                <a:cs typeface="Arial Black"/>
                <a:sym typeface="Arial Black"/>
              </a:rPr>
              <a:t>Acknowledgements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4864608" y="320040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Dr. Qurat Ul 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Mr. Zohair Ahmed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9090B0"/>
                </a:solidFill>
                <a:latin typeface="Trebuchet MS"/>
                <a:ea typeface="Trebuchet MS"/>
                <a:cs typeface="Trebuchet MS"/>
                <a:sym typeface="Trebuchet MS"/>
              </a:rPr>
              <a:t>Mr. Ubaid Ur Rehman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864608" y="382219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0" i="1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For their invaluable guidance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Trebuchet MS"/>
              <a:buNone/>
            </a:pPr>
            <a:r>
              <a:rPr b="0" i="1" lang="en-US" sz="10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throughout this research.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9BA3AF"/>
                </a:solidFill>
                <a:latin typeface="Trebuchet MS"/>
                <a:ea typeface="Trebuchet MS"/>
                <a:cs typeface="Trebuchet MS"/>
                <a:sym typeface="Trebuchet MS"/>
              </a:rPr>
              <a:t>14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